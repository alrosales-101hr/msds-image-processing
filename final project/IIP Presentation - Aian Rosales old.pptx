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4C2DA-A720-4892-A250-63EA9F742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EA4053-FB5E-44DF-A60B-52D95F96B1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AD324-0D67-4F98-8BC8-3F3EB0FBD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5D86B-6765-4A32-AE96-D93BC2EBB8B3}" type="datetimeFigureOut">
              <a:rPr lang="en-PH" smtClean="0"/>
              <a:t>11/12/2018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C73CE-068F-4AA7-AC20-6638A116D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4DC2A-1C59-42FF-9216-8F442FFAC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995CA-163E-4B05-AC9D-49041627B6D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9713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AA42-606E-43D7-966A-A8D2C313F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5BBD3-B026-4AD1-9640-19A974463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3448A-004B-4E18-915C-4136D924B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5D86B-6765-4A32-AE96-D93BC2EBB8B3}" type="datetimeFigureOut">
              <a:rPr lang="en-PH" smtClean="0"/>
              <a:t>11/12/2018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7D5E8-E0BA-4F89-9023-1C49AD91E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350B8-1E06-4A99-BDE7-737B3A6C8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995CA-163E-4B05-AC9D-49041627B6D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12456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41F58-8E6E-4ED1-8D62-889FFD422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D1ADA-D618-45F4-BC84-807761C61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1FD82-14FC-4FD6-8D19-759A56E70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5D86B-6765-4A32-AE96-D93BC2EBB8B3}" type="datetimeFigureOut">
              <a:rPr lang="en-PH" smtClean="0"/>
              <a:t>11/12/2018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393A5-CFE7-4502-AFAD-4699301DA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428FC-D1A3-41B1-8A11-1BC0C9EAE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995CA-163E-4B05-AC9D-49041627B6D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64886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C4B59-BD4A-48FC-BD69-BFF3598F2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5EE72-125F-4361-91B7-2226A1120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11B470-265B-4D54-8351-DC9E37B4F1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E52C81-EF82-4BF4-A967-8DD028903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5D86B-6765-4A32-AE96-D93BC2EBB8B3}" type="datetimeFigureOut">
              <a:rPr lang="en-PH" smtClean="0"/>
              <a:t>11/12/2018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CCF08-A82E-4C69-A69A-A0965FD1C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362D48-8F28-4FE4-84C9-A70FA5E14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995CA-163E-4B05-AC9D-49041627B6D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43774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3124E-FB8D-47C9-8627-018ED0EB5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BB754-2CFD-440A-A796-265170735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22CCAC-ED31-4CED-8F89-0F55C8F39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D53FCB-4138-4E5D-B406-92C174ABE2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E26AD2-D4EA-4606-917B-417F3D1A07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949065-54D0-4FC4-8252-AA57B7A9F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5D86B-6765-4A32-AE96-D93BC2EBB8B3}" type="datetimeFigureOut">
              <a:rPr lang="en-PH" smtClean="0"/>
              <a:t>11/12/2018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221FE0-6571-4AE0-97CF-93F6EE81B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32717D-C5AB-478B-B2D0-890B42229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995CA-163E-4B05-AC9D-49041627B6D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4254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200E4-E672-4F84-8866-D4FDFCBB7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7D7724-6EA0-45C3-B766-6D236CAA3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5D86B-6765-4A32-AE96-D93BC2EBB8B3}" type="datetimeFigureOut">
              <a:rPr lang="en-PH" smtClean="0"/>
              <a:t>11/12/2018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B31FFE-49A3-4BC1-ADE6-2EE7721B2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6CA4BE-D776-477D-998C-5E5B7DC80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995CA-163E-4B05-AC9D-49041627B6D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79132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7D823-3765-4559-949F-9BAE6A0DE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5D86B-6765-4A32-AE96-D93BC2EBB8B3}" type="datetimeFigureOut">
              <a:rPr lang="en-PH" smtClean="0"/>
              <a:t>11/12/2018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8C404C-1C15-40E9-92B7-865DB6245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C112C-393F-4CBC-80C1-EC73FF418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995CA-163E-4B05-AC9D-49041627B6D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32730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2F0E4-1774-4E9C-8285-763763AD8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9B47B-CD55-43BE-917D-FB5E16628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01AA24-916F-4219-92BA-6E1482343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FAF840-60AD-43D9-9564-495D05D88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5D86B-6765-4A32-AE96-D93BC2EBB8B3}" type="datetimeFigureOut">
              <a:rPr lang="en-PH" smtClean="0"/>
              <a:t>11/12/2018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9AF21-07D5-46B7-B9A5-79A6BDF8A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1CEFC-F1AE-4DDB-82F9-DF4C56641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995CA-163E-4B05-AC9D-49041627B6D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42954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6374E-C6EC-4D73-BBCD-E95F595A9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27E74C-6A18-4044-A5DE-049FC92473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E0BB0E-3351-4BCD-A920-5D46888CBC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42267C-ED60-40C8-B777-33A0A1F86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5D86B-6765-4A32-AE96-D93BC2EBB8B3}" type="datetimeFigureOut">
              <a:rPr lang="en-PH" smtClean="0"/>
              <a:t>11/12/2018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D3F10C-C07F-4730-AC42-D26606B7E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584B81-36F9-4981-9C96-26C9B2F3E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995CA-163E-4B05-AC9D-49041627B6D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25553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5EB6D-AEC3-41FA-9D9C-925DF0781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4327B9-28D0-4B4B-8477-F90544750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F9E75-C385-468D-909B-60FE5C0AB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5D86B-6765-4A32-AE96-D93BC2EBB8B3}" type="datetimeFigureOut">
              <a:rPr lang="en-PH" smtClean="0"/>
              <a:t>11/12/2018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45D12-3719-4A7C-A3CD-F1C03E21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F9397-C538-41CF-BCD5-DAFEFCD5F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995CA-163E-4B05-AC9D-49041627B6D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58445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762A94-A08E-4BAC-837E-656363B9AC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72EB74-4EE4-497B-A6FD-FAF9B7019D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B2D9C-FA50-4652-A6F6-8F7F55FC7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5D86B-6765-4A32-AE96-D93BC2EBB8B3}" type="datetimeFigureOut">
              <a:rPr lang="en-PH" smtClean="0"/>
              <a:t>11/12/2018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92228-2901-4A42-B8E8-2EE4FFCA4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AC29B-FA2D-4D53-8032-EDFEC0923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995CA-163E-4B05-AC9D-49041627B6D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00104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D4BF5D-6D48-4866-9B71-EE4AB94B3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F2F7E-C23A-45D4-9912-F1FB83868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772B5-0C39-4C04-A7E6-151ED32D5E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15D86B-6765-4A32-AE96-D93BC2EBB8B3}" type="datetimeFigureOut">
              <a:rPr lang="en-PH" smtClean="0"/>
              <a:t>11/12/2018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8FE6D-C268-466D-AD0C-7617B3E83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C5407-8EE0-402F-BEC7-86D588C2A9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995CA-163E-4B05-AC9D-49041627B6D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94017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F5FAC-D514-4EE4-B0A4-2445544DE9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PH" dirty="0">
                <a:latin typeface="Arial" panose="020B0604020202020204" pitchFamily="34" charset="0"/>
                <a:cs typeface="Arial" panose="020B0604020202020204" pitchFamily="34" charset="0"/>
              </a:rPr>
              <a:t>Wildlife Detection and Count in Aerial Photography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766820-7732-4C27-91E6-A77A951BC7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92150"/>
            <a:ext cx="9144000" cy="712510"/>
          </a:xfrm>
        </p:spPr>
        <p:txBody>
          <a:bodyPr>
            <a:normAutofit fontScale="92500" lnSpcReduction="20000"/>
          </a:bodyPr>
          <a:lstStyle/>
          <a:p>
            <a:r>
              <a:rPr lang="en-PH" dirty="0">
                <a:latin typeface="Arial" panose="020B0604020202020204" pitchFamily="34" charset="0"/>
                <a:cs typeface="Arial" panose="020B0604020202020204" pitchFamily="34" charset="0"/>
              </a:rPr>
              <a:t>Aian Rosales</a:t>
            </a:r>
          </a:p>
          <a:p>
            <a:r>
              <a:rPr lang="en-PH" dirty="0">
                <a:latin typeface="Arial" panose="020B0604020202020204" pitchFamily="34" charset="0"/>
                <a:cs typeface="Arial" panose="020B0604020202020204" pitchFamily="34" charset="0"/>
              </a:rPr>
              <a:t>MSDS 2019</a:t>
            </a:r>
          </a:p>
        </p:txBody>
      </p:sp>
    </p:spTree>
    <p:extLst>
      <p:ext uri="{BB962C8B-B14F-4D97-AF65-F5344CB8AC3E}">
        <p14:creationId xmlns:p14="http://schemas.microsoft.com/office/powerpoint/2010/main" val="1559115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F5FAC-D514-4EE4-B0A4-2445544DE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664" y="687358"/>
            <a:ext cx="5950998" cy="582150"/>
          </a:xfrm>
        </p:spPr>
        <p:txBody>
          <a:bodyPr>
            <a:normAutofit/>
          </a:bodyPr>
          <a:lstStyle/>
          <a:p>
            <a:pPr algn="l"/>
            <a:r>
              <a:rPr lang="en-PH" sz="3000" b="1">
                <a:latin typeface="Arial" panose="020B0604020202020204" pitchFamily="34" charset="0"/>
                <a:cs typeface="Arial" panose="020B0604020202020204" pitchFamily="34" charset="0"/>
              </a:rPr>
              <a:t>History of Aerial Photography</a:t>
            </a:r>
            <a:endParaRPr lang="en-PH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766820-7732-4C27-91E6-A77A951BC7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664" y="1741652"/>
            <a:ext cx="7829602" cy="2698810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PH" sz="1800" dirty="0">
                <a:latin typeface="Arial" panose="020B0604020202020204" pitchFamily="34" charset="0"/>
                <a:cs typeface="Arial" panose="020B0604020202020204" pitchFamily="34" charset="0"/>
              </a:rPr>
              <a:t>Photographs taken over Paris by balloonist Nadar in 1858 (pictures not preserved)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PH" sz="1800" dirty="0">
                <a:latin typeface="Arial" panose="020B0604020202020204" pitchFamily="34" charset="0"/>
                <a:cs typeface="Arial" panose="020B0604020202020204" pitchFamily="34" charset="0"/>
              </a:rPr>
              <a:t>Earliest surviving photograph titled “Boston, as the Eagle and Wild Goose See It” by Wallace Black and Samuel Archer King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PH" sz="1800" dirty="0">
                <a:latin typeface="Arial" panose="020B0604020202020204" pitchFamily="34" charset="0"/>
                <a:cs typeface="Arial" panose="020B0604020202020204" pitchFamily="34" charset="0"/>
              </a:rPr>
              <a:t>Kite aerial photography pioneered by E.D. Archibald in 1882 using explosive charges as timer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picture containing text, book&#10;&#10;Description automatically generated">
            <a:extLst>
              <a:ext uri="{FF2B5EF4-FFF2-40B4-BE49-F238E27FC236}">
                <a16:creationId xmlns:a16="http://schemas.microsoft.com/office/drawing/2014/main" id="{45EBDB41-889B-4C06-9A3B-BBF52B8389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2942" y="876497"/>
            <a:ext cx="1139652" cy="1471013"/>
          </a:xfrm>
          <a:prstGeom prst="rect">
            <a:avLst/>
          </a:prstGeom>
        </p:spPr>
      </p:pic>
      <p:pic>
        <p:nvPicPr>
          <p:cNvPr id="9" name="Picture 8" descr="A large body of water&#10;&#10;Description automatically generated">
            <a:extLst>
              <a:ext uri="{FF2B5EF4-FFF2-40B4-BE49-F238E27FC236}">
                <a16:creationId xmlns:a16="http://schemas.microsoft.com/office/drawing/2014/main" id="{92766D78-7B20-4E97-83EC-CCED06BF0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9302" y="2639593"/>
            <a:ext cx="1243466" cy="773280"/>
          </a:xfrm>
          <a:prstGeom prst="rect">
            <a:avLst/>
          </a:prstGeom>
        </p:spPr>
      </p:pic>
      <p:pic>
        <p:nvPicPr>
          <p:cNvPr id="11" name="Picture 10" descr="A picture containing building, outdoor, ground, tree&#10;&#10;Description automatically generated">
            <a:extLst>
              <a:ext uri="{FF2B5EF4-FFF2-40B4-BE49-F238E27FC236}">
                <a16:creationId xmlns:a16="http://schemas.microsoft.com/office/drawing/2014/main" id="{553FDA2F-A1E5-4FBE-8A0D-B274FCA7BD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1320" y="3734556"/>
            <a:ext cx="1263651" cy="176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859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F5FAC-D514-4EE4-B0A4-2445544DE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664" y="687358"/>
            <a:ext cx="5950998" cy="582150"/>
          </a:xfrm>
        </p:spPr>
        <p:txBody>
          <a:bodyPr>
            <a:normAutofit/>
          </a:bodyPr>
          <a:lstStyle/>
          <a:p>
            <a:pPr algn="l"/>
            <a:r>
              <a:rPr lang="en-PH" sz="3000" b="1">
                <a:latin typeface="Arial" panose="020B0604020202020204" pitchFamily="34" charset="0"/>
                <a:cs typeface="Arial" panose="020B0604020202020204" pitchFamily="34" charset="0"/>
              </a:rPr>
              <a:t>History of Aerial Photography</a:t>
            </a:r>
            <a:endParaRPr lang="en-PH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766820-7732-4C27-91E6-A77A951BC7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664" y="1438185"/>
            <a:ext cx="7829602" cy="3577700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PH" sz="1800" dirty="0">
                <a:latin typeface="Arial" panose="020B0604020202020204" pitchFamily="34" charset="0"/>
                <a:cs typeface="Arial" panose="020B0604020202020204" pitchFamily="34" charset="0"/>
              </a:rPr>
              <a:t>World War I – reconnaissance aircrafts for enemy movement monitoring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PH" sz="1800" dirty="0">
                <a:latin typeface="Arial" panose="020B0604020202020204" pitchFamily="34" charset="0"/>
                <a:cs typeface="Arial" panose="020B0604020202020204" pitchFamily="34" charset="0"/>
              </a:rPr>
              <a:t>Frederick Laws - Stereoscopic effect (60% overlap) – perception of depth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PH" sz="1800" dirty="0">
                <a:latin typeface="Arial" panose="020B0604020202020204" pitchFamily="34" charset="0"/>
                <a:cs typeface="Arial" panose="020B0604020202020204" pitchFamily="34" charset="0"/>
              </a:rPr>
              <a:t>World War II – use of small, quick planes to perform recon missions – Sidney Cotton and Maurice Longbottom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PH" sz="1800" dirty="0">
                <a:latin typeface="Arial" panose="020B0604020202020204" pitchFamily="34" charset="0"/>
                <a:cs typeface="Arial" panose="020B0604020202020204" pitchFamily="34" charset="0"/>
              </a:rPr>
              <a:t>Present – Satellites, model aircrafts and drones are used for aerial photography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492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F5FAC-D514-4EE4-B0A4-2445544DE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664" y="687358"/>
            <a:ext cx="5950998" cy="582150"/>
          </a:xfrm>
        </p:spPr>
        <p:txBody>
          <a:bodyPr>
            <a:normAutofit/>
          </a:bodyPr>
          <a:lstStyle/>
          <a:p>
            <a:pPr algn="l"/>
            <a:r>
              <a:rPr lang="en-PH" sz="3000" b="1" dirty="0">
                <a:latin typeface="Arial" panose="020B0604020202020204" pitchFamily="34" charset="0"/>
                <a:cs typeface="Arial" panose="020B0604020202020204" pitchFamily="34" charset="0"/>
              </a:rPr>
              <a:t>Aerial Wildlife Photography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766820-7732-4C27-91E6-A77A951BC7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663" y="1384918"/>
            <a:ext cx="8543279" cy="4953737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PH" sz="1800" dirty="0">
                <a:latin typeface="Arial" panose="020B0604020202020204" pitchFamily="34" charset="0"/>
                <a:cs typeface="Arial" panose="020B0604020202020204" pitchFamily="34" charset="0"/>
              </a:rPr>
              <a:t>Ecologists and conservationists consider aerial photography as an invaluable tool in protecting wildlife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PH" sz="1800" dirty="0">
                <a:latin typeface="Arial" panose="020B0604020202020204" pitchFamily="34" charset="0"/>
                <a:cs typeface="Arial" panose="020B0604020202020204" pitchFamily="34" charset="0"/>
              </a:rPr>
              <a:t>They can count how much wildlife thrives in a certain area, with the added advantage of reduced human contact, to reduce stress to the observed animals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PH" sz="1800" dirty="0">
                <a:latin typeface="Arial" panose="020B0604020202020204" pitchFamily="34" charset="0"/>
                <a:cs typeface="Arial" panose="020B0604020202020204" pitchFamily="34" charset="0"/>
              </a:rPr>
              <a:t>University of Adelaide demonstrated better results of wildlife identification and count using the drones to take pictures of decoy ducks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PH" sz="1400" dirty="0">
                <a:latin typeface="Arial" panose="020B0604020202020204" pitchFamily="34" charset="0"/>
                <a:cs typeface="Arial" panose="020B0604020202020204" pitchFamily="34" charset="0"/>
              </a:rPr>
              <a:t>At the same time, scientists on the ground are also manually counting the decoys laid out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PH" sz="1400" dirty="0">
                <a:latin typeface="Arial" panose="020B0604020202020204" pitchFamily="34" charset="0"/>
                <a:cs typeface="Arial" panose="020B0604020202020204" pitchFamily="34" charset="0"/>
              </a:rPr>
              <a:t>Data from drones were shown to be </a:t>
            </a:r>
            <a:r>
              <a:rPr lang="en-PH" sz="1400" b="1" dirty="0">
                <a:latin typeface="Arial" panose="020B0604020202020204" pitchFamily="34" charset="0"/>
                <a:cs typeface="Arial" panose="020B0604020202020204" pitchFamily="34" charset="0"/>
              </a:rPr>
              <a:t>43%-96% percent</a:t>
            </a:r>
            <a:r>
              <a:rPr lang="en-PH" sz="1400" dirty="0">
                <a:latin typeface="Arial" panose="020B0604020202020204" pitchFamily="34" charset="0"/>
                <a:cs typeface="Arial" panose="020B0604020202020204" pitchFamily="34" charset="0"/>
              </a:rPr>
              <a:t> more accurate than counting them using the view from the ground</a:t>
            </a:r>
          </a:p>
          <a:p>
            <a:pPr lvl="1" algn="l"/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PH" sz="1800" dirty="0">
                <a:latin typeface="Arial" panose="020B0604020202020204" pitchFamily="34" charset="0"/>
                <a:cs typeface="Arial" panose="020B0604020202020204" pitchFamily="34" charset="0"/>
              </a:rPr>
              <a:t>Drones are also used to survey plant ecology using a vegetation map and even crowd size using the Jacobs Crowd Formula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606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F5FAC-D514-4EE4-B0A4-2445544DE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664" y="687358"/>
            <a:ext cx="5950998" cy="582150"/>
          </a:xfrm>
        </p:spPr>
        <p:txBody>
          <a:bodyPr>
            <a:normAutofit/>
          </a:bodyPr>
          <a:lstStyle/>
          <a:p>
            <a:pPr algn="l"/>
            <a:r>
              <a:rPr lang="en-PH" sz="3000" b="1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766820-7732-4C27-91E6-A77A951BC7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663" y="1384918"/>
            <a:ext cx="8543279" cy="4953737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PH" sz="1800" dirty="0">
                <a:latin typeface="Arial" panose="020B0604020202020204" pitchFamily="34" charset="0"/>
                <a:cs typeface="Arial" panose="020B0604020202020204" pitchFamily="34" charset="0"/>
              </a:rPr>
              <a:t>Images of wildlife scraped from the Internet were used as inputs for this project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PH" sz="1400" dirty="0">
                <a:latin typeface="Arial" panose="020B0604020202020204" pitchFamily="34" charset="0"/>
                <a:cs typeface="Arial" panose="020B0604020202020204" pitchFamily="34" charset="0"/>
              </a:rPr>
              <a:t>Bovines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PH" sz="1400" dirty="0">
                <a:latin typeface="Arial" panose="020B0604020202020204" pitchFamily="34" charset="0"/>
                <a:cs typeface="Arial" panose="020B0604020202020204" pitchFamily="34" charset="0"/>
              </a:rPr>
              <a:t>Fish seen above the ocean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PH" sz="1400" dirty="0">
                <a:latin typeface="Arial" panose="020B0604020202020204" pitchFamily="34" charset="0"/>
                <a:cs typeface="Arial" panose="020B0604020202020204" pitchFamily="34" charset="0"/>
              </a:rPr>
              <a:t>Birds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PH" sz="1400" dirty="0">
                <a:latin typeface="Arial" panose="020B0604020202020204" pitchFamily="34" charset="0"/>
                <a:cs typeface="Arial" panose="020B0604020202020204" pitchFamily="34" charset="0"/>
              </a:rPr>
              <a:t>Humans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PH" sz="1400" dirty="0">
                <a:latin typeface="Arial" panose="020B0604020202020204" pitchFamily="34" charset="0"/>
                <a:cs typeface="Arial" panose="020B0604020202020204" pitchFamily="34" charset="0"/>
              </a:rPr>
              <a:t>Umbrellas (neutral classification)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endParaRPr lang="en-PH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PH" sz="1800" dirty="0">
                <a:latin typeface="Arial" panose="020B0604020202020204" pitchFamily="34" charset="0"/>
                <a:cs typeface="Arial" panose="020B0604020202020204" pitchFamily="34" charset="0"/>
              </a:rPr>
              <a:t>Thresholding was applied to aid in the eventual segmentation of the individual elements in the pictures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PH" sz="1800" dirty="0">
                <a:latin typeface="Arial" panose="020B0604020202020204" pitchFamily="34" charset="0"/>
                <a:cs typeface="Arial" panose="020B0604020202020204" pitchFamily="34" charset="0"/>
              </a:rPr>
              <a:t>Morphological operation techniques (opening and closing) were used to further clean out the images (further reducing artifacts that may affect count)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PH" sz="1800" dirty="0">
                <a:latin typeface="Arial" panose="020B0604020202020204" pitchFamily="34" charset="0"/>
                <a:cs typeface="Arial" panose="020B0604020202020204" pitchFamily="34" charset="0"/>
              </a:rPr>
              <a:t>Blob detection using </a:t>
            </a:r>
            <a:r>
              <a:rPr lang="en-PH" sz="1800" dirty="0" err="1">
                <a:latin typeface="Arial" panose="020B0604020202020204" pitchFamily="34" charset="0"/>
                <a:cs typeface="Arial" panose="020B0604020202020204" pitchFamily="34" charset="0"/>
              </a:rPr>
              <a:t>skimage’s</a:t>
            </a:r>
            <a:r>
              <a:rPr lang="en-PH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PH" sz="1800" dirty="0" err="1">
                <a:latin typeface="Arial" panose="020B0604020202020204" pitchFamily="34" charset="0"/>
                <a:cs typeface="Arial" panose="020B0604020202020204" pitchFamily="34" charset="0"/>
              </a:rPr>
              <a:t>regionprops</a:t>
            </a:r>
            <a:r>
              <a:rPr lang="en-PH" sz="1800" dirty="0">
                <a:latin typeface="Arial" panose="020B0604020202020204" pitchFamily="34" charset="0"/>
                <a:cs typeface="Arial" panose="020B0604020202020204" pitchFamily="34" charset="0"/>
              </a:rPr>
              <a:t> were used to segment the elements (animals and objects); properties were then recorded as features for the Machine Learning models for object identification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058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F5FAC-D514-4EE4-B0A4-2445544DE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664" y="687358"/>
            <a:ext cx="5950998" cy="582150"/>
          </a:xfrm>
        </p:spPr>
        <p:txBody>
          <a:bodyPr>
            <a:normAutofit/>
          </a:bodyPr>
          <a:lstStyle/>
          <a:p>
            <a:pPr algn="l"/>
            <a:r>
              <a:rPr lang="en-PH" sz="3000" b="1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766820-7732-4C27-91E6-A77A951BC7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663" y="1384918"/>
            <a:ext cx="8543279" cy="4953737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PH" sz="1800" dirty="0">
                <a:latin typeface="Arial" panose="020B0604020202020204" pitchFamily="34" charset="0"/>
                <a:cs typeface="Arial" panose="020B0604020202020204" pitchFamily="34" charset="0"/>
              </a:rPr>
              <a:t>Properties (features) extracted: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PH" sz="1400" dirty="0">
                <a:latin typeface="Arial" panose="020B0604020202020204" pitchFamily="34" charset="0"/>
                <a:cs typeface="Arial" panose="020B0604020202020204" pitchFamily="34" charset="0"/>
              </a:rPr>
              <a:t>Eccentricity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PH" sz="1400" dirty="0">
                <a:latin typeface="Arial" panose="020B0604020202020204" pitchFamily="34" charset="0"/>
                <a:cs typeface="Arial" panose="020B0604020202020204" pitchFamily="34" charset="0"/>
              </a:rPr>
              <a:t>Minor axis Length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PH" sz="1400" dirty="0">
                <a:latin typeface="Arial" panose="020B0604020202020204" pitchFamily="34" charset="0"/>
                <a:cs typeface="Arial" panose="020B0604020202020204" pitchFamily="34" charset="0"/>
              </a:rPr>
              <a:t>Major axis Length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PH" sz="1400" dirty="0">
                <a:latin typeface="Arial" panose="020B0604020202020204" pitchFamily="34" charset="0"/>
                <a:cs typeface="Arial" panose="020B0604020202020204" pitchFamily="34" charset="0"/>
              </a:rPr>
              <a:t>Minor axis Length/ Major axis Length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PH" sz="1400" dirty="0">
                <a:latin typeface="Arial" panose="020B0604020202020204" pitchFamily="34" charset="0"/>
                <a:cs typeface="Arial" panose="020B0604020202020204" pitchFamily="34" charset="0"/>
              </a:rPr>
              <a:t>Convex Area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PH" sz="1400" dirty="0">
                <a:latin typeface="Arial" panose="020B0604020202020204" pitchFamily="34" charset="0"/>
                <a:cs typeface="Arial" panose="020B0604020202020204" pitchFamily="34" charset="0"/>
              </a:rPr>
              <a:t>Hu Moments (7 individual features) – chosen due to their scale-, transformation-, and rotation-invariance</a:t>
            </a:r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PH" sz="1800" dirty="0" err="1">
                <a:latin typeface="Arial" panose="020B0604020202020204" pitchFamily="34" charset="0"/>
                <a:cs typeface="Arial" panose="020B0604020202020204" pitchFamily="34" charset="0"/>
              </a:rPr>
              <a:t>Regionprops</a:t>
            </a:r>
            <a:r>
              <a:rPr lang="en-PH" sz="1800" dirty="0">
                <a:latin typeface="Arial" panose="020B0604020202020204" pitchFamily="34" charset="0"/>
                <a:cs typeface="Arial" panose="020B0604020202020204" pitchFamily="34" charset="0"/>
              </a:rPr>
              <a:t> extracted were then fed as training-test data for the ML models (Highest accuracy achieved by Random Forest; lowest, k-Neighbors)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PH" sz="1800" dirty="0">
                <a:latin typeface="Arial" panose="020B0604020202020204" pitchFamily="34" charset="0"/>
                <a:cs typeface="Arial" panose="020B0604020202020204" pitchFamily="34" charset="0"/>
              </a:rPr>
              <a:t>Using these models, I then tested these to various types of images: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PH" sz="1400" dirty="0">
                <a:latin typeface="Arial" panose="020B0604020202020204" pitchFamily="34" charset="0"/>
                <a:cs typeface="Arial" panose="020B0604020202020204" pitchFamily="34" charset="0"/>
              </a:rPr>
              <a:t>Same picture with same morphological operations, but cropped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PH" sz="1400" dirty="0">
                <a:latin typeface="Arial" panose="020B0604020202020204" pitchFamily="34" charset="0"/>
                <a:cs typeface="Arial" panose="020B0604020202020204" pitchFamily="34" charset="0"/>
              </a:rPr>
              <a:t>Same picture with same morphological operations, but cropped and rotated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PH" sz="1400" dirty="0">
                <a:latin typeface="Arial" panose="020B0604020202020204" pitchFamily="34" charset="0"/>
                <a:cs typeface="Arial" panose="020B0604020202020204" pitchFamily="34" charset="0"/>
              </a:rPr>
              <a:t>Merged pictures with different morphological operations applied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PH" sz="1400" dirty="0">
                <a:latin typeface="Arial" panose="020B0604020202020204" pitchFamily="34" charset="0"/>
                <a:cs typeface="Arial" panose="020B0604020202020204" pitchFamily="34" charset="0"/>
              </a:rPr>
              <a:t>New pictures not fed into the training dataset</a:t>
            </a:r>
          </a:p>
          <a:p>
            <a:pPr algn="l"/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endParaRPr lang="en-PH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656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F5FAC-D514-4EE4-B0A4-2445544DE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664" y="687358"/>
            <a:ext cx="5950998" cy="582150"/>
          </a:xfrm>
        </p:spPr>
        <p:txBody>
          <a:bodyPr>
            <a:normAutofit/>
          </a:bodyPr>
          <a:lstStyle/>
          <a:p>
            <a:pPr algn="l"/>
            <a:r>
              <a:rPr lang="en-PH" sz="3000" b="1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766820-7732-4C27-91E6-A77A951BC7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663" y="1384918"/>
            <a:ext cx="8543279" cy="4953737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PH" sz="1800" dirty="0">
                <a:latin typeface="Arial" panose="020B0604020202020204" pitchFamily="34" charset="0"/>
                <a:cs typeface="Arial" panose="020B0604020202020204" pitchFamily="34" charset="0"/>
              </a:rPr>
              <a:t>Was able to extract blobs successfully in the images, but it required considerable effort in pre-selecting images with very well-segmented elements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PH" sz="1800" dirty="0">
                <a:latin typeface="Arial" panose="020B0604020202020204" pitchFamily="34" charset="0"/>
                <a:cs typeface="Arial" panose="020B0604020202020204" pitchFamily="34" charset="0"/>
              </a:rPr>
              <a:t>Test accuracy results achieved: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PH" sz="1400" dirty="0">
                <a:latin typeface="Arial" panose="020B0604020202020204" pitchFamily="34" charset="0"/>
                <a:cs typeface="Arial" panose="020B0604020202020204" pitchFamily="34" charset="0"/>
              </a:rPr>
              <a:t>Random Forest – 77%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PH" sz="1400" dirty="0">
                <a:latin typeface="Arial" panose="020B0604020202020204" pitchFamily="34" charset="0"/>
                <a:cs typeface="Arial" panose="020B0604020202020204" pitchFamily="34" charset="0"/>
              </a:rPr>
              <a:t>K-Neighbors – 65%</a:t>
            </a:r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PH" sz="1800" dirty="0" err="1">
                <a:latin typeface="Arial" panose="020B0604020202020204" pitchFamily="34" charset="0"/>
                <a:cs typeface="Arial" panose="020B0604020202020204" pitchFamily="34" charset="0"/>
              </a:rPr>
              <a:t>fdas</a:t>
            </a:r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endParaRPr lang="en-PH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H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675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506</Words>
  <Application>Microsoft Office PowerPoint</Application>
  <PresentationFormat>Widescreen</PresentationFormat>
  <Paragraphs>75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Wildlife Detection and Count in Aerial Photography</vt:lpstr>
      <vt:lpstr>History of Aerial Photography</vt:lpstr>
      <vt:lpstr>History of Aerial Photography</vt:lpstr>
      <vt:lpstr>Aerial Wildlife Photography</vt:lpstr>
      <vt:lpstr>Methodology</vt:lpstr>
      <vt:lpstr>Methodology</vt:lpstr>
      <vt:lpstr>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Wildlife Detection and Count in Aerial Photography</dc:title>
  <dc:creator>aian rosales</dc:creator>
  <cp:lastModifiedBy>aian rosales</cp:lastModifiedBy>
  <cp:revision>10</cp:revision>
  <dcterms:created xsi:type="dcterms:W3CDTF">2018-12-11T00:04:56Z</dcterms:created>
  <dcterms:modified xsi:type="dcterms:W3CDTF">2018-12-11T01:14:54Z</dcterms:modified>
</cp:coreProperties>
</file>